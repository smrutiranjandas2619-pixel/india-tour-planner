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D4FF"/>
                </a:solidFill>
                <a:latin typeface="Arial"/>
              </a:defRPr>
            </a:pPr>
            <a:r>
              <a:t>AI-POWERED TRAVEL ADVISORY &amp; ITINERARY ARCHITECT</a:t>
            </a:r>
          </a:p>
          <a:p>
            <a:pPr>
              <a:spcAft>
                <a:spcPts val="15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India Tour Planner</a:t>
            </a:r>
          </a:p>
          <a:p>
            <a:pPr>
              <a:defRPr sz="1600">
                <a:solidFill>
                  <a:srgbClr val="DCE1EB"/>
                </a:solidFill>
                <a:latin typeface="Arial"/>
              </a:defRPr>
            </a:pPr>
            <a:r>
              <a:t>Full-stack itinerary building, interactive mapping, expense estimation, and RAG-based conversational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200">
                <a:solidFill>
                  <a:srgbClr val="96A0AF"/>
                </a:solidFill>
                <a:latin typeface="Arial"/>
              </a:defRPr>
            </a:pPr>
            <a:r>
              <a:t>Tech Stack: FastAPI • React • SQLite • Leaflet • Gemini • Llama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Project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• The Challenge in Modern Travel Planning</a:t>
            </a:r>
          </a:p>
          <a:p>
            <a:pPr>
              <a:spcAft>
                <a:spcPts val="2000"/>
              </a:spcAft>
              <a:defRPr sz="1500">
                <a:solidFill>
                  <a:srgbClr val="DCE1EB"/>
                </a:solidFill>
                <a:latin typeface="Arial"/>
              </a:defRPr>
            </a:pPr>
            <a:r>
              <a:t>    Travelers spend hours cross-referencing multiple sites for itinerary building, budget estimations, regional weather, hotel prices, local safety advisories, and route visuals. There is no singular, smart assistant that manages the lifecycle of a travel plan.</a:t>
            </a:r>
          </a:p>
          <a:p>
            <a:pPr>
              <a:spcAft>
                <a:spcPts val="6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• The India Tour Planner Vision</a:t>
            </a:r>
          </a:p>
          <a:p>
            <a:pPr>
              <a:defRPr sz="1500">
                <a:solidFill>
                  <a:srgbClr val="DCE1EB"/>
                </a:solidFill>
                <a:latin typeface="Arial"/>
              </a:defRPr>
            </a:pPr>
            <a:r>
              <a:t>    Provide a premium, single-dossier, interactive portal. Combining local vector-embedded travel documentation with external APIs, the application delivers personalized travel advisories, custom cost estimations, dynamic maps, and continuous chatbot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Core Capabilities: AI Planner &amp; Estimator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[01] AI Itinerary Architect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Generates customized day-wise routes matching user-specified duration, group budget size, and starting locations.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Combines LLM intelligence with internal travel database queries for precise local destination matching.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Integrates dynamic weather reports and scraped safety alerts to add warning flags directly to dossiers.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[02] Smart Expense Estimator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Calculates instant cost predictions split across Lodging, Food, Local Transport, and Buffer/Shopping.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Adapts calculations dynamically based on three core profiles: Budget, Standard, and Premium.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Renders immediate visual analytics and expense graphs inside the user dashboard for transparent budgeting.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Core Capabilities: Auth, History &amp;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[03] Firebase Phone OTP Login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Supports regular email/password login as well as mobile-based Firebase OTP validation.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Ensures verified accounts and secure state retention across user logins.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Guards API endpoints with secure, hashed JSON Web Tokens (JWT)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[04] Dossier History &amp; Advisory Chatbot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History Portal: Saves itineraries so users can reload, examine, edit, and delete older travel dossiers.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RAG-Based Advisor Modal: Embeds a chatbot that answers follow-up travel questions using contextualized itinerary parameters.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Intelligent Queries: Evaluates real-time questions (e.g., weather-appropriate gear or nearby eateries).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DCE1EB"/>
                </a:solidFill>
                <a:latin typeface="Arial"/>
              </a:defRPr>
            </a:pPr>
            <a:r>
              <a:t>The system is built on a highly performant decoupled architecture: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2918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D4FF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1200"/>
              </a:spcAft>
              <a:defRPr sz="1300" i="1">
                <a:solidFill>
                  <a:srgbClr val="96A0AF"/>
                </a:solidFill>
                <a:latin typeface="Arial"/>
              </a:defRPr>
            </a:pPr>
            <a:r>
              <a:t>React &amp; SPA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React (Vite-powered SPA)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Tailwind CSS for UI design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Leaflet JS for maps &amp; routes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Stateful contexts for Firebase 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377440"/>
            <a:ext cx="32918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D4FF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1200"/>
              </a:spcAft>
              <a:defRPr sz="1300" i="1">
                <a:solidFill>
                  <a:srgbClr val="96A0AF"/>
                </a:solidFill>
                <a:latin typeface="Arial"/>
              </a:defRPr>
            </a:pPr>
            <a:r>
              <a:t>FastAPI Web Service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FastAPI REST endpoints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Uvicorn async engine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JWT bearer token authorization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SQLite relational db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377440"/>
            <a:ext cx="32918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D4FF"/>
                </a:solidFill>
                <a:latin typeface="Arial"/>
              </a:defRPr>
            </a:pPr>
            <a:r>
              <a:t>INTELLIGENCE LAYER</a:t>
            </a:r>
          </a:p>
          <a:p>
            <a:pPr>
              <a:spcAft>
                <a:spcPts val="1200"/>
              </a:spcAft>
              <a:defRPr sz="1300" i="1">
                <a:solidFill>
                  <a:srgbClr val="96A0AF"/>
                </a:solidFill>
                <a:latin typeface="Arial"/>
              </a:defRPr>
            </a:pPr>
            <a:r>
              <a:t>AI and RAG Processing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Google Gemini 1.5 Flash (API)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Groq Cloud Llama 3.3 (API)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Custom Cosine SimpleVectorStore</a:t>
            </a:r>
          </a:p>
          <a:p>
            <a:pPr>
              <a:spcAft>
                <a:spcPts val="600"/>
              </a:spcAft>
              <a:defRPr sz="1300">
                <a:solidFill>
                  <a:srgbClr val="DCE1EB"/>
                </a:solidFill>
                <a:latin typeface="Arial"/>
              </a:defRPr>
            </a:pPr>
            <a:r>
              <a:t>▪ JSON-stored vector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Retrieval-Augmented Generation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How RAG Works in the Planner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Vectorization: Tourism dossiers and region articles are embedded using text embeddings and saved in a lightweight vector DB file.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Semantic Query: When a user builds a plan for a city, the backend performs cosine-similarity checks to pull corresponding context.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Prompt Injection: The retrieved context, user preferences, and real-time weather details are merged and fed into Gemini.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Dual LLM Processing Engine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Gemini 1.5 Flash: Selected for structuring complex JSON travel dossiers, formatting safety alerts, and orchestrating coordinates.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Groq / Llama 3.3: Selected for high-speed conversational Q&amp;A in the follow-up Chatbot Modal due to low latency.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Robust Fallbacks: Built-in error handlers ensure that if APIs encounter limits, clean local templates are dynamically rendered.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Premium Frontend Design &amp;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• Glassmorphic Design Aesthetics</a:t>
            </a:r>
          </a:p>
          <a:p>
            <a:pPr>
              <a:spcAft>
                <a:spcPts val="16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    The application utilizes vanilla CSS variables alongside Tailwind utility classes to implement a frosted glass design (glassmorphism). Key features include: semi-transparent panels backdrop-filters, subtle glowing borders, deep slate colors, and responsive layout spacing matching modern design criteria.</a:t>
            </a:r>
          </a:p>
          <a:p>
            <a:pPr>
              <a:spcAft>
                <a:spcPts val="6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• Mapping and Dynamic Route Drawing</a:t>
            </a:r>
          </a:p>
          <a:p>
            <a:pPr>
              <a:defRPr sz="1400">
                <a:solidFill>
                  <a:srgbClr val="DCE1EB"/>
                </a:solidFill>
                <a:latin typeface="Arial"/>
              </a:defRPr>
            </a:pPr>
            <a:r>
              <a:t>    Integration with Leaflet.js provides immediate geographical context. When an itinerary is created, markers are plotted on a map for each spot in the sequence. Marker clustering handles congested city centers, while polylines trace the travel flow, offering travelers a visual sense of their route.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Data Schema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SQLite Relational Schema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▪ Users Table: Stores email, phone number, hashed password, verification code, and active session tokens.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▪ Trips Table: Stores unique trip identifiers, target destination, start date, budget parameters, and full compiled JSON itinerary documents.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▪ Cached Places: Speeds up map loads by storing previously queried coordinates for fast server-side lookups.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Vector Store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▪ Vector DB File (vector_store.json): Stores pre-embedded text chunks representing details on travel nodes, cities, and historic monuments.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▪ Cosine Similarity Calculations: Running on the backend using numpy, allowing ultra-fast searches without external cloud DB dependencies.</a:t>
            </a:r>
          </a:p>
          <a:p>
            <a:pPr>
              <a:spcAft>
                <a:spcPts val="10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▪ Context Injection: Feeds context matching user destination dynamically into prompts, reducing LLM token consumption and generation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Monorepo Build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• Unified Monorepo Strategy</a:t>
            </a:r>
          </a:p>
          <a:p>
            <a:pPr>
              <a:spcAft>
                <a:spcPts val="16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    The application is hosted as a single git repository. In production (e.g. Render), the builder installs frontend node packages, runs `npm run build`, and copies the assets to the backend. The FastAPI backend is configured to mount those static files directly, avoiding complex cross-origin setup.</a:t>
            </a:r>
          </a:p>
          <a:p>
            <a:pPr>
              <a:spcAft>
                <a:spcPts val="6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• Production Routing &amp; Proxy</a:t>
            </a:r>
          </a:p>
          <a:p>
            <a:pPr>
              <a:defRPr sz="1400">
                <a:solidFill>
                  <a:srgbClr val="DCE1EB"/>
                </a:solidFill>
                <a:latin typeface="Arial"/>
              </a:defRPr>
            </a:pPr>
            <a:r>
              <a:t>    Vite is configured with a development proxy that tunnels api calls directly to `localhost:8000`. In production, requests to `/api/*` are handled dynamically by FastAPI controllers, whereas assets (js, css, html) are served statically by FastAPI's FileResponse, keeping hosting costs to $0.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96A0AF"/>
                </a:solidFill>
                <a:latin typeface="Arial"/>
              </a:defRPr>
            </a:pPr>
            <a:r>
              <a:t>INDIA TOUR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Future Vision &amp;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Key Project Achievements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Integrated AI itinerary builder combining RAG search results with live API data streams.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Interactive geospatial routes and dynamic budgets.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OTP user authentication and history tracker.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D4FF"/>
                </a:solidFill>
                <a:latin typeface="Arial"/>
              </a:defRPr>
            </a:pPr>
            <a:r>
              <a:t>Roadmap Forward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Multi-city travel routing: Traveling salesman solvers to optimize complex road trips across states.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Collaborative Planning: Real-time user rooms so friends can modify travel cards simultaneously.</a:t>
            </a:r>
          </a:p>
          <a:p>
            <a:pPr>
              <a:spcAft>
                <a:spcPts val="800"/>
              </a:spcAft>
              <a:defRPr sz="1400">
                <a:solidFill>
                  <a:srgbClr val="DCE1EB"/>
                </a:solidFill>
                <a:latin typeface="Arial"/>
              </a:defRPr>
            </a:pPr>
            <a:r>
              <a:t>• Offline Capabilities: Support local device database sync for low connectivity travel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